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f986fffd-62e7-ef3f-1af4-808af0452680}">
          <p14:sldIdLst>
            <p14:sldId id="256"/>
          </p14:sldIdLst>
        </p14:section>
        <p14:section name="总览" id="{db26ec53-b49b-2c85-9785-43900e324bbf}">
          <p14:sldIdLst>
            <p14:sldId id="257"/>
          </p14:sldIdLst>
        </p14:section>
        <p14:section name="01 平台发布" id="{856ade9f-770d-5509-2597-122117829817}">
          <p14:sldIdLst>
            <p14:sldId id="258"/>
            <p14:sldId id="259"/>
          </p14:sldIdLst>
        </p14:section>
        <p14:section name="02 召回应用" id="{3874b818-e03b-1aba-45b0-66abd78a31ae}">
          <p14:sldIdLst>
            <p14:sldId id="260"/>
          </p14:sldIdLst>
        </p14:section>
        <p14:section name="03 合伙人销售网络" id="{a16a32f9-e2db-6d28-723d-b44c9b0d0631}">
          <p14:sldIdLst>
            <p14:sldId id="261"/>
          </p14:sldIdLst>
        </p14:section>
        <p14:section name="04 到店转化" id="{e667c085-026f-a69f-39ce-c2ec09b6c946}">
          <p14:sldIdLst>
            <p14:sldId id="262"/>
          </p14:sldIdLst>
        </p14:section>
        <p14:section name="05 店内案例墙" id="{fbb194dd-a363-7b54-31b0-fd921c11cc91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84048"/>
            <a:ext cx="1118585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128016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A33A"/>
                </a:solidFill>
              </a:rPr>
              <a:t>有大有小 · 视频案例获客专题 · 第四部分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058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部署环节的建议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9DCE3"/>
                </a:solidFill>
              </a:rPr>
              <a:t>做好的案例视频，用在哪五个场景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2743200"/>
            <a:ext cx="6949440" cy="566928"/>
          </a:xfrm>
          <a:prstGeom prst="roundRect">
            <a:avLst>
              <a:gd name="adj" fmla="val 12903"/>
            </a:avLst>
          </a:prstGeom>
          <a:solidFill>
            <a:srgbClr val="262B38"/>
          </a:solidFill>
          <a:ln w="12700">
            <a:solidFill>
              <a:srgbClr val="3A41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816352"/>
            <a:ext cx="420624" cy="420624"/>
          </a:xfrm>
          <a:prstGeom prst="ellipse">
            <a:avLst/>
          </a:prstGeom>
          <a:solidFill>
            <a:srgbClr val="E8463A"/>
          </a:solidFill>
          <a:ln w="12700">
            <a:solidFill>
              <a:srgbClr val="E846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816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74320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平台发布   </a:t>
            </a:r>
            <a:pPr indent="0" marL="0">
              <a:buNone/>
            </a:pPr>
            <a:r>
              <a:rPr lang="en-US" sz="1200" dirty="0">
                <a:solidFill>
                  <a:srgbClr val="AEB5C4"/>
                </a:solidFill>
              </a:rPr>
              <a:t>照同行真实带客的号来发：小区、面积、价格报清楚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3429000"/>
            <a:ext cx="6949440" cy="566928"/>
          </a:xfrm>
          <a:prstGeom prst="roundRect">
            <a:avLst>
              <a:gd name="adj" fmla="val 12903"/>
            </a:avLst>
          </a:prstGeom>
          <a:solidFill>
            <a:srgbClr val="262B38"/>
          </a:solidFill>
          <a:ln w="12700">
            <a:solidFill>
              <a:srgbClr val="3A41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502152"/>
            <a:ext cx="420624" cy="420624"/>
          </a:xfrm>
          <a:prstGeom prst="ellipse">
            <a:avLst/>
          </a:prstGeom>
          <a:solidFill>
            <a:srgbClr val="E8463A"/>
          </a:solidFill>
          <a:ln w="12700">
            <a:solidFill>
              <a:srgbClr val="E846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502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2900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召回应用   </a:t>
            </a:r>
            <a:pPr indent="0" marL="0">
              <a:buNone/>
            </a:pPr>
            <a:r>
              <a:rPr lang="en-US" sz="1200" dirty="0">
                <a:solidFill>
                  <a:srgbClr val="AEB5C4"/>
                </a:solidFill>
              </a:rPr>
              <a:t>AI 聊天召回：每店 5 个号 × 每号 200 条 / 天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114800"/>
            <a:ext cx="6949440" cy="566928"/>
          </a:xfrm>
          <a:prstGeom prst="roundRect">
            <a:avLst>
              <a:gd name="adj" fmla="val 12903"/>
            </a:avLst>
          </a:prstGeom>
          <a:solidFill>
            <a:srgbClr val="262B38"/>
          </a:solidFill>
          <a:ln w="12700">
            <a:solidFill>
              <a:srgbClr val="3A41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4187952"/>
            <a:ext cx="420624" cy="420624"/>
          </a:xfrm>
          <a:prstGeom prst="ellipse">
            <a:avLst/>
          </a:prstGeom>
          <a:solidFill>
            <a:srgbClr val="E8463A"/>
          </a:solidFill>
          <a:ln w="12700">
            <a:solidFill>
              <a:srgbClr val="E846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187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11480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合伙人销售网络   </a:t>
            </a:r>
            <a:pPr indent="0" marL="0">
              <a:buNone/>
            </a:pPr>
            <a:r>
              <a:rPr lang="en-US" sz="1200" dirty="0">
                <a:solidFill>
                  <a:srgbClr val="AEB5C4"/>
                </a:solidFill>
              </a:rPr>
              <a:t>施工队、设计公司服务完自己的客户，推荐全屋定制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2920" y="4800600"/>
            <a:ext cx="6949440" cy="566928"/>
          </a:xfrm>
          <a:prstGeom prst="roundRect">
            <a:avLst>
              <a:gd name="adj" fmla="val 12903"/>
            </a:avLst>
          </a:prstGeom>
          <a:solidFill>
            <a:srgbClr val="262B38"/>
          </a:solidFill>
          <a:ln w="12700">
            <a:solidFill>
              <a:srgbClr val="3A41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873752"/>
            <a:ext cx="420624" cy="420624"/>
          </a:xfrm>
          <a:prstGeom prst="ellipse">
            <a:avLst/>
          </a:prstGeom>
          <a:solidFill>
            <a:srgbClr val="E8463A"/>
          </a:solidFill>
          <a:ln w="12700">
            <a:solidFill>
              <a:srgbClr val="E846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4873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480060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到店转化   </a:t>
            </a:r>
            <a:pPr indent="0" marL="0">
              <a:buNone/>
            </a:pPr>
            <a:r>
              <a:rPr lang="en-US" sz="1200" dirty="0">
                <a:solidFill>
                  <a:srgbClr val="AEB5C4"/>
                </a:solidFill>
              </a:rPr>
              <a:t>客户到店后，用和他家相似的真实案例促成签约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02920" y="5486400"/>
            <a:ext cx="6949440" cy="566928"/>
          </a:xfrm>
          <a:prstGeom prst="roundRect">
            <a:avLst>
              <a:gd name="adj" fmla="val 12903"/>
            </a:avLst>
          </a:prstGeom>
          <a:solidFill>
            <a:srgbClr val="262B38"/>
          </a:solidFill>
          <a:ln w="12700">
            <a:solidFill>
              <a:srgbClr val="3A415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5559552"/>
            <a:ext cx="420624" cy="420624"/>
          </a:xfrm>
          <a:prstGeom prst="ellipse">
            <a:avLst/>
          </a:prstGeom>
          <a:solidFill>
            <a:srgbClr val="E8463A"/>
          </a:solidFill>
          <a:ln w="12700">
            <a:solidFill>
              <a:srgbClr val="E846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5559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548640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店内案例墙   </a:t>
            </a:r>
            <a:pPr indent="0" marL="0">
              <a:buNone/>
            </a:pPr>
            <a:r>
              <a:rPr lang="en-US" sz="1200" dirty="0">
                <a:solidFill>
                  <a:srgbClr val="AEB5C4"/>
                </a:solidFill>
              </a:rPr>
              <a:t>100 个案例海报刷满一面墙，做品牌门面</a:t>
            </a:r>
            <a:endParaRPr lang="en-US" sz="1500" dirty="0"/>
          </a:p>
        </p:txBody>
      </p:sp>
      <p:pic>
        <p:nvPicPr>
          <p:cNvPr id="25" name="Image 0" descr="/Users/gloom/lark-agent-handoff/deploy-ppt-20261029/img/c07-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051560"/>
            <a:ext cx="1188720" cy="211328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8001000" y="3256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5C4"/>
                </a:solidFill>
              </a:rPr>
              <a:t>主号介绍版</a:t>
            </a:r>
            <a:endParaRPr lang="en-US" sz="1100" dirty="0"/>
          </a:p>
        </p:txBody>
      </p:sp>
      <p:pic>
        <p:nvPicPr>
          <p:cNvPr id="27" name="Image 1" descr="/Users/gloom/lark-agent-handoff/deploy-ppt-20261029/img/c07-owne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9448" y="1051560"/>
            <a:ext cx="1188720" cy="211328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9299448" y="3256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5C4"/>
                </a:solidFill>
              </a:rPr>
              <a:t>业主视角版</a:t>
            </a:r>
            <a:endParaRPr lang="en-US" sz="1100" dirty="0"/>
          </a:p>
        </p:txBody>
      </p:sp>
      <p:pic>
        <p:nvPicPr>
          <p:cNvPr id="29" name="Image 2" descr="/Users/gloom/lark-agent-handoff/deploy-ppt-20261029/img/c07-designer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7896" y="1051560"/>
            <a:ext cx="1188720" cy="211328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10597896" y="3256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5C4"/>
                </a:solidFill>
              </a:rPr>
              <a:t>设计师视角版</a:t>
            </a:r>
            <a:endParaRPr lang="en-US" sz="1100" dirty="0"/>
          </a:p>
        </p:txBody>
      </p:sp>
      <p:sp>
        <p:nvSpPr>
          <p:cNvPr id="31" name="Text 26"/>
          <p:cNvSpPr txBox="1"/>
          <p:nvPr/>
        </p:nvSpPr>
        <p:spPr>
          <a:xfrm>
            <a:off x="8001000" y="35763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2A33A"/>
                </a:solidFill>
              </a:rPr>
              <a:t>同一单（海沧 8 处柜子）做出的三个版本，五个场景都用得上</a:t>
            </a:r>
            <a:endParaRPr lang="en-US" sz="1150" dirty="0"/>
          </a:p>
        </p:txBody>
      </p:sp>
      <p:sp>
        <p:nvSpPr>
          <p:cNvPr id="32" name="Text 27"/>
          <p:cNvSpPr txBox="1"/>
          <p:nvPr/>
        </p:nvSpPr>
        <p:spPr>
          <a:xfrm>
            <a:off x="502920" y="6263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</a:rPr>
              <a:t>2026-10-29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</a:rPr>
              <a:t>文中节奏、时限、数量均为建议值，按门店实际调整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1280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部署环节建议 · 总览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02920" y="38404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一条案例视频，用在五个场景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2120128" cy="4297680"/>
          </a:xfrm>
          <a:prstGeom prst="roundRect">
            <a:avLst>
              <a:gd name="adj" fmla="val 4313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81328"/>
            <a:ext cx="475488" cy="475488"/>
          </a:xfrm>
          <a:prstGeom prst="ellipse">
            <a:avLst/>
          </a:prstGeom>
          <a:solidFill>
            <a:srgbClr val="E8463A"/>
          </a:solidFill>
          <a:ln w="12700">
            <a:solidFill>
              <a:srgbClr val="E846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481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463040"/>
            <a:ext cx="129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</a:rPr>
              <a:t>平台发布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280160" y="1810512"/>
            <a:ext cx="731520" cy="274320"/>
          </a:xfrm>
          <a:prstGeom prst="roundRect">
            <a:avLst>
              <a:gd name="adj" fmla="val 26667"/>
            </a:avLst>
          </a:prstGeom>
          <a:solidFill>
            <a:srgbClr val="E8463A"/>
          </a:solidFill>
          <a:ln w="12700">
            <a:solidFill>
              <a:srgbClr val="E846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80160" y="18105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拉新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331720"/>
            <a:ext cx="175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A93A6"/>
                </a:solidFill>
              </a:rPr>
              <a:t>给谁看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587752"/>
            <a:ext cx="1754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</a:rPr>
              <a:t>刷到视频的本地陌生人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383280"/>
            <a:ext cx="175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A93A6"/>
                </a:solidFill>
              </a:rPr>
              <a:t>做多少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639312"/>
            <a:ext cx="1754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</a:rPr>
              <a:t>每个号每天 3 条，抖音、小红书、视频号三个平台共 9 条 / 天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4434840"/>
            <a:ext cx="175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A93A6"/>
                </a:solidFill>
              </a:rPr>
              <a:t>看什么数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4690872"/>
            <a:ext cx="1754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</a:rPr>
              <a:t>评论里报自家小区 / 面积的人数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69352" y="1280160"/>
            <a:ext cx="2120128" cy="4297680"/>
          </a:xfrm>
          <a:prstGeom prst="roundRect">
            <a:avLst>
              <a:gd name="adj" fmla="val 4313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52232" y="1481328"/>
            <a:ext cx="475488" cy="475488"/>
          </a:xfrm>
          <a:prstGeom prst="ellipse">
            <a:avLst/>
          </a:prstGeom>
          <a:solidFill>
            <a:srgbClr val="E8463A"/>
          </a:solidFill>
          <a:ln w="12700">
            <a:solidFill>
              <a:srgbClr val="E846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52232" y="1481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546592" y="1463040"/>
            <a:ext cx="129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</a:rPr>
              <a:t>召回应用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546592" y="1810512"/>
            <a:ext cx="731520" cy="274320"/>
          </a:xfrm>
          <a:prstGeom prst="roundRect">
            <a:avLst>
              <a:gd name="adj" fmla="val 26667"/>
            </a:avLst>
          </a:prstGeom>
          <a:solidFill>
            <a:srgbClr val="E8463A"/>
          </a:solidFill>
          <a:ln w="12700">
            <a:solidFill>
              <a:srgbClr val="E846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46592" y="18105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唤醒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2952232" y="2331720"/>
            <a:ext cx="175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A93A6"/>
                </a:solidFill>
              </a:rPr>
              <a:t>给谁看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952232" y="2587752"/>
            <a:ext cx="1754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</a:rPr>
              <a:t>加过微信没签的、老业主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952232" y="3383280"/>
            <a:ext cx="175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A93A6"/>
                </a:solidFill>
              </a:rPr>
              <a:t>做多少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2952232" y="3639312"/>
            <a:ext cx="1754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</a:rPr>
              <a:t>每店 5 个号 × 200 条 = 1000 条 / 天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952232" y="4434840"/>
            <a:ext cx="175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A93A6"/>
                </a:solidFill>
              </a:rPr>
              <a:t>看什么数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2952232" y="4690872"/>
            <a:ext cx="1754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</a:rPr>
              <a:t>回复数、约量房数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35784" y="1280160"/>
            <a:ext cx="2120128" cy="4297680"/>
          </a:xfrm>
          <a:prstGeom prst="roundRect">
            <a:avLst>
              <a:gd name="adj" fmla="val 4313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18664" y="1481328"/>
            <a:ext cx="475488" cy="475488"/>
          </a:xfrm>
          <a:prstGeom prst="ellipse">
            <a:avLst/>
          </a:prstGeom>
          <a:solidFill>
            <a:srgbClr val="E8463A"/>
          </a:solidFill>
          <a:ln w="12700">
            <a:solidFill>
              <a:srgbClr val="E8463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218664" y="1481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813024" y="1463040"/>
            <a:ext cx="129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</a:rPr>
              <a:t>合伙人网络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813024" y="1810512"/>
            <a:ext cx="731520" cy="274320"/>
          </a:xfrm>
          <a:prstGeom prst="roundRect">
            <a:avLst>
              <a:gd name="adj" fmla="val 26667"/>
            </a:avLst>
          </a:prstGeom>
          <a:solidFill>
            <a:srgbClr val="E8463A"/>
          </a:solidFill>
          <a:ln w="12700">
            <a:solidFill>
              <a:srgbClr val="E8463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813024" y="18105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合作推荐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5218664" y="2331720"/>
            <a:ext cx="175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A93A6"/>
                </a:solidFill>
              </a:rPr>
              <a:t>给谁看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218664" y="2587752"/>
            <a:ext cx="1754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</a:rPr>
              <a:t>施工队、设计公司自己的客户（装修 / 设计做完后）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218664" y="3383280"/>
            <a:ext cx="175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A93A6"/>
                </a:solidFill>
              </a:rPr>
              <a:t>做多少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218664" y="3639312"/>
            <a:ext cx="1754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</a:rPr>
              <a:t>每个合伙人一份专属案例包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218664" y="4434840"/>
            <a:ext cx="175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A93A6"/>
                </a:solidFill>
              </a:rPr>
              <a:t>看什么数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5218664" y="4690872"/>
            <a:ext cx="1754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</a:rPr>
              <a:t>合伙人数、推荐来的客户、成交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302216" y="1280160"/>
            <a:ext cx="2120128" cy="4297680"/>
          </a:xfrm>
          <a:prstGeom prst="roundRect">
            <a:avLst>
              <a:gd name="adj" fmla="val 4313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85096" y="1481328"/>
            <a:ext cx="475488" cy="475488"/>
          </a:xfrm>
          <a:prstGeom prst="ellipse">
            <a:avLst/>
          </a:prstGeom>
          <a:solidFill>
            <a:srgbClr val="E8463A"/>
          </a:solidFill>
          <a:ln w="12700">
            <a:solidFill>
              <a:srgbClr val="E8463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485096" y="1481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8079456" y="1463040"/>
            <a:ext cx="129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</a:rPr>
              <a:t>到店转化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8079456" y="1810512"/>
            <a:ext cx="731520" cy="274320"/>
          </a:xfrm>
          <a:prstGeom prst="roundRect">
            <a:avLst>
              <a:gd name="adj" fmla="val 26667"/>
            </a:avLst>
          </a:prstGeom>
          <a:solidFill>
            <a:srgbClr val="E8463A"/>
          </a:solidFill>
          <a:ln w="12700">
            <a:solidFill>
              <a:srgbClr val="E8463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079456" y="18105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成交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7485096" y="2331720"/>
            <a:ext cx="175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A93A6"/>
                </a:solidFill>
              </a:rPr>
              <a:t>给谁看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7485096" y="2587752"/>
            <a:ext cx="1754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</a:rPr>
              <a:t>已经到店的客户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7485096" y="3383280"/>
            <a:ext cx="175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A93A6"/>
                </a:solidFill>
              </a:rPr>
              <a:t>做多少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7485096" y="3639312"/>
            <a:ext cx="1754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</a:rPr>
              <a:t>每位到店客户看 3 条相似案例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7485096" y="4434840"/>
            <a:ext cx="175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A93A6"/>
                </a:solidFill>
              </a:rPr>
              <a:t>看什么数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7485096" y="4690872"/>
            <a:ext cx="1754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</a:rPr>
              <a:t>成交率、成交周期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9568647" y="1280160"/>
            <a:ext cx="2120128" cy="4297680"/>
          </a:xfrm>
          <a:prstGeom prst="roundRect">
            <a:avLst>
              <a:gd name="adj" fmla="val 4313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751527" y="1481328"/>
            <a:ext cx="475488" cy="475488"/>
          </a:xfrm>
          <a:prstGeom prst="ellipse">
            <a:avLst/>
          </a:prstGeom>
          <a:solidFill>
            <a:srgbClr val="E8463A"/>
          </a:solidFill>
          <a:ln w="12700">
            <a:solidFill>
              <a:srgbClr val="E8463A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751527" y="1481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10345887" y="1463040"/>
            <a:ext cx="129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</a:rPr>
              <a:t>店内案例墙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10345887" y="1810512"/>
            <a:ext cx="731520" cy="274320"/>
          </a:xfrm>
          <a:prstGeom prst="roundRect">
            <a:avLst>
              <a:gd name="adj" fmla="val 26667"/>
            </a:avLst>
          </a:prstGeom>
          <a:solidFill>
            <a:srgbClr val="E8463A"/>
          </a:solidFill>
          <a:ln w="12700">
            <a:solidFill>
              <a:srgbClr val="E8463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0345887" y="18105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品牌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9751527" y="2331720"/>
            <a:ext cx="175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A93A6"/>
                </a:solidFill>
              </a:rPr>
              <a:t>给谁看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9751527" y="2587752"/>
            <a:ext cx="1754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</a:rPr>
              <a:t>进店的每一位客户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9751527" y="3383280"/>
            <a:ext cx="175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A93A6"/>
                </a:solidFill>
              </a:rPr>
              <a:t>做多少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9751527" y="3639312"/>
            <a:ext cx="1754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</a:rPr>
              <a:t>100 张案例海报刷满一面墙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9751527" y="4434840"/>
            <a:ext cx="175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A93A6"/>
                </a:solidFill>
              </a:rPr>
              <a:t>看什么数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9751527" y="4690872"/>
            <a:ext cx="1754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</a:rPr>
              <a:t>客户报编号问的次数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502920" y="5806440"/>
            <a:ext cx="11185855" cy="566928"/>
          </a:xfrm>
          <a:prstGeom prst="roundRect">
            <a:avLst>
              <a:gd name="adj" fmla="val 16129"/>
            </a:avLst>
          </a:prstGeom>
          <a:solidFill>
            <a:srgbClr val="1B1F2A"/>
          </a:solidFill>
          <a:ln w="12700">
            <a:solidFill>
              <a:srgbClr val="1B1F2A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777240" y="580644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33A"/>
                </a:solidFill>
              </a:rPr>
              <a:t>核心思路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公开平台拉新、AI 召回唤醒老客户、合伙人推荐自己的客户、到店和店内墙促成签约；五处都按案例编号记数。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</a:rPr>
              <a:t>文中节奏、时限、数量均为建议值，按门店实际调整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1280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部署环节建议 · 01 平台发布 · 在哪发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02920" y="38404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抖音是主阵地，小红书接方案和搜索，视频号同步给熟人看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185855" cy="1572768"/>
          </a:xfrm>
          <a:prstGeom prst="roundRect">
            <a:avLst>
              <a:gd name="adj" fmla="val 5814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31673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A"/>
                </a:solidFill>
              </a:rPr>
              <a:t>抖音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554480" y="1362456"/>
            <a:ext cx="960120" cy="274320"/>
          </a:xfrm>
          <a:prstGeom prst="roundRect">
            <a:avLst>
              <a:gd name="adj" fmla="val 26667"/>
            </a:avLst>
          </a:prstGeom>
          <a:solidFill>
            <a:srgbClr val="E8463A"/>
          </a:solidFill>
          <a:ln w="12700">
            <a:solidFill>
              <a:srgbClr val="E846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54480" y="136245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主阵地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737360"/>
            <a:ext cx="2743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3"/>
                </a:solidFill>
              </a:rPr>
              <a:t>完工案例在这里天天发、带来想买的人，同城客户靠门店 POI 和「城市 + 装修」话题找过来。调研的 4 个装修公司号，主号都在抖音。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03320" y="1298448"/>
            <a:ext cx="7848295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E3E5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40480" y="1371600"/>
            <a:ext cx="757397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1F2A"/>
                </a:solidFill>
              </a:rPr>
              <a:t>福州旧房改造卢哥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4A5263"/>
                </a:solidFill>
              </a:rPr>
              <a:t>187 条全是视频，近 90 天每周 6.8 条；交付结果案例 47 条，意向率 23%，想买 527 条；5 月起 POI 从城市换成门店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1F2A"/>
                </a:solidFill>
              </a:rPr>
              <a:t>设计100个西安人的家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4A5263"/>
                </a:solidFill>
              </a:rPr>
              <a:t>抖音主号 564 条，点赞中位 474；交付结果案例意向率 29%，评论里问价 837、想要同款 783、问门店联系 426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1F2A"/>
                </a:solidFill>
              </a:rPr>
              <a:t>邯郸聚腾装饰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4A5263"/>
                </a:solidFill>
              </a:rPr>
              <a:t>427 条，每周 6.0 条；完工实景那条 40 平，128 条意向评论里占 90 条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1F2A"/>
                </a:solidFill>
              </a:rPr>
              <a:t>jimlvsxbxu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4A5263"/>
                </a:solidFill>
              </a:rPr>
              <a:t>抖音图文为主（19/20）；用户使用案例 1 条，点赞 1517，想买 81 条，评论里问门店联系 71 条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871216"/>
            <a:ext cx="11185855" cy="1645920"/>
          </a:xfrm>
          <a:prstGeom prst="roundRect">
            <a:avLst>
              <a:gd name="adj" fmla="val 5556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29992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A"/>
                </a:solidFill>
              </a:rPr>
              <a:t>小红书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554480" y="3044952"/>
            <a:ext cx="960120" cy="274320"/>
          </a:xfrm>
          <a:prstGeom prst="roundRect">
            <a:avLst>
              <a:gd name="adj" fmla="val 26667"/>
            </a:avLst>
          </a:prstGeom>
          <a:solidFill>
            <a:srgbClr val="E8463A"/>
          </a:solidFill>
          <a:ln w="12700">
            <a:solidFill>
              <a:srgbClr val="E846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554480" y="30449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方案和搜索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419856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3"/>
                </a:solidFill>
              </a:rPr>
              <a:t>效果图户型讲解，加上「上海装修公司」这类搜索词，接住正在比价、找设计的人。在欧碧雅这里，小红书比它自己的抖音号更带客。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03320" y="2980944"/>
            <a:ext cx="7848295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3E5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840480" y="3054096"/>
            <a:ext cx="75739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1F2A"/>
                </a:solidFill>
              </a:rPr>
              <a:t>欧碧雅空间设计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4A5263"/>
                </a:solidFill>
              </a:rPr>
              <a:t>小红书主号每周 1.0 条，点赞中位 158，交付结果案例意向率 36%、想买 179 条；同一家的抖音品牌号每周 27.9 条，点赞中位只有 3，意向 10.9%；两边重合只有 2 条，基本各发各的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1F2A"/>
                </a:solidFill>
              </a:rPr>
              <a:t>欧碧雅（老板号）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4A5263"/>
                </a:solidFill>
              </a:rPr>
              <a:t>个人 IP 号「上海严叔聊装修」在抖音，每周 2.2 条，点赞中位 76，意向 9.7%；老板口播号单独做，偶尔和主号同步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1F2A"/>
                </a:solidFill>
              </a:rPr>
              <a:t>设计100个西安人的家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4A5263"/>
                </a:solidFill>
              </a:rPr>
              <a:t>同一家的小红书号 418 条，每周 2.4 条，点赞中位 26，意向 18.7%；20% 和抖音是同一条，小红书反而早一天发——同一批内容两边都发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4626864"/>
            <a:ext cx="11185855" cy="1024128"/>
          </a:xfrm>
          <a:prstGeom prst="roundRect">
            <a:avLst>
              <a:gd name="adj" fmla="val 8929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4754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A"/>
                </a:solidFill>
              </a:rPr>
              <a:t>微信视频号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965960" y="4800600"/>
            <a:ext cx="960120" cy="274320"/>
          </a:xfrm>
          <a:prstGeom prst="roundRect">
            <a:avLst>
              <a:gd name="adj" fmla="val 26667"/>
            </a:avLst>
          </a:prstGeom>
          <a:solidFill>
            <a:srgbClr val="8A93A6"/>
          </a:solidFill>
          <a:ln w="12700">
            <a:solidFill>
              <a:srgbClr val="8A93A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965960" y="48006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同步分发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517550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3"/>
                </a:solidFill>
              </a:rPr>
              <a:t>和抖音同一批片子同步发，算进每天 9 条；转到微信里给熟人、老业主看。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703320" y="4736592"/>
            <a:ext cx="7848295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E3E5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840480" y="4809744"/>
            <a:ext cx="7573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1F2A"/>
                </a:solidFill>
              </a:rPr>
              <a:t>调研样本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4A5263"/>
                </a:solidFill>
              </a:rPr>
              <a:t>调研的装修号里没有视频号带客数据，先跟抖音同节奏同步发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1F2A"/>
                </a:solidFill>
              </a:rPr>
              <a:t>怎么看效果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4A5263"/>
                </a:solidFill>
              </a:rPr>
              <a:t>每条记评论和私信里报小区 / 面积的人数，跑满一个月，用自己的数据决定加量还是只同步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5806440"/>
            <a:ext cx="11185855" cy="566928"/>
          </a:xfrm>
          <a:prstGeom prst="roundRect">
            <a:avLst>
              <a:gd name="adj" fmla="val 16129"/>
            </a:avLst>
          </a:prstGeom>
          <a:solidFill>
            <a:srgbClr val="1B1F2A"/>
          </a:solidFill>
          <a:ln w="12700">
            <a:solidFill>
              <a:srgbClr val="1B1F2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580644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33A"/>
                </a:solidFill>
              </a:rPr>
              <a:t>发布方式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抖音、小红书、视频号都由门店在手机 App 里自己发，我们出发布包（视频、标题、话题、封面）。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</a:rPr>
              <a:t>文中节奏、时限、数量均为建议值，按门店实际调整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1280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部署环节建议 · 01 平台发布 · 怎么发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02920" y="38404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每号每天 3 条、三个平台共 9 条，主推报清小区面积价格的完工案例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3749040" y="11155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A93A6"/>
                </a:solidFill>
              </a:rPr>
              <a:t>怎么做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1115568"/>
            <a:ext cx="30476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A93A6"/>
                </a:solidFill>
              </a:rPr>
              <a:t>同行实际数据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11185855" cy="822960"/>
          </a:xfrm>
          <a:prstGeom prst="roundRect">
            <a:avLst>
              <a:gd name="adj" fmla="val 11111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00200"/>
            <a:ext cx="365760" cy="365760"/>
          </a:xfrm>
          <a:prstGeom prst="ellipse">
            <a:avLst/>
          </a:prstGeom>
          <a:solidFill>
            <a:srgbClr val="E8463A"/>
          </a:solidFill>
          <a:ln w="12700">
            <a:solidFill>
              <a:srgbClr val="E846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</a:rPr>
              <a:t>每号每天 3 条，共 9 条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13716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263"/>
                </a:solidFill>
              </a:rPr>
              <a:t>抖音、小红书、微信视频号每个号每天各发 3 条；固定 17–19 点前后发，别断更；小红书和抖音同一天或提前一天。节奏靠几个工地轮着出：量房、施工、完工回访各拍一条，别为凑数重复发同一份字幕稿。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503920" y="1371600"/>
            <a:ext cx="3047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</a:rPr>
              <a:t>福州卢哥抖音近 90 天每周 6.8 条、最长只断 2 天；欧碧雅小红书每周 1.0–1.2 条；调研的号最常发的钟点都是 17 点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267712"/>
            <a:ext cx="11185855" cy="822960"/>
          </a:xfrm>
          <a:prstGeom prst="roundRect">
            <a:avLst>
              <a:gd name="adj" fmla="val 11111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496312"/>
            <a:ext cx="365760" cy="365760"/>
          </a:xfrm>
          <a:prstGeom prst="ellipse">
            <a:avLst/>
          </a:prstGeom>
          <a:solidFill>
            <a:srgbClr val="E8463A"/>
          </a:solidFill>
          <a:ln w="12700">
            <a:solidFill>
              <a:srgbClr val="E846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496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26771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</a:rPr>
              <a:t>主推完工结果，开头就报数字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749040" y="226771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263"/>
                </a:solidFill>
              </a:rPr>
              <a:t>施工过程、工地巡检、自我介绍穿插着发保持节奏，但别指望它们带客。每条完工案例的标题和开头，都带一个能和自家房子比的数字：面积或装修价。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2267712"/>
            <a:ext cx="3047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</a:rPr>
              <a:t>邯郸聚腾：同一套房，开头报「40 平」那条意向 90 条，没报面积的讲解版只有 5 条；交付结果意向率 16%，服务过程 2%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3163824"/>
            <a:ext cx="11185855" cy="822960"/>
          </a:xfrm>
          <a:prstGeom prst="roundRect">
            <a:avLst>
              <a:gd name="adj" fmla="val 11111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392424"/>
            <a:ext cx="365760" cy="365760"/>
          </a:xfrm>
          <a:prstGeom prst="ellipse">
            <a:avLst/>
          </a:prstGeom>
          <a:solidFill>
            <a:srgbClr val="E8463A"/>
          </a:solidFill>
          <a:ln w="12700">
            <a:solidFill>
              <a:srgbClr val="E846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392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163824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</a:rPr>
              <a:t>做成编号系列，编号就是名额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749040" y="3163824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263"/>
                </a:solidFill>
              </a:rPr>
              <a:t>标题统一写「第 N 套丨X区X小区 N㎡」，结尾放「还有 X 套」。一套模板换户型复用：地图钉点 → 屋主一句需求 → 户型图讲改动 → 经过 N 个月 → 完工逐房间。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503920" y="3163824"/>
            <a:ext cx="3047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</a:rPr>
              <a:t>西安「设计100个西安人的家」：第一季三条每条意向 85–108 条，点赞前三最多才 48 条；评论里有「我定第66套」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4059936"/>
            <a:ext cx="11185855" cy="822960"/>
          </a:xfrm>
          <a:prstGeom prst="roundRect">
            <a:avLst>
              <a:gd name="adj" fmla="val 11111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4288536"/>
            <a:ext cx="365760" cy="365760"/>
          </a:xfrm>
          <a:prstGeom prst="ellipse">
            <a:avLst/>
          </a:prstGeom>
          <a:solidFill>
            <a:srgbClr val="E8463A"/>
          </a:solidFill>
          <a:ln w="12700">
            <a:solidFill>
              <a:srgbClr val="E8463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4288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188720" y="4059936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</a:rPr>
              <a:t>置顶放带来想买的人最多的那条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3749040" y="4059936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263"/>
                </a:solidFill>
              </a:rPr>
              <a:t>放意向率最高、价格和包含项写清楚的完工案例。房价写得离谱的爆款，评论区会吵成房价真假；老板自述点赞不低，但没几个人问装修。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503920" y="4059936"/>
            <a:ext cx="3047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</a:rPr>
              <a:t>福州卢哥：置顶「鼓楼 31 万」意向率 13.5%，装修价 4 万那条反而 30.5%；邯郸置顶老板自述，约 36 条评论只有 2 条意向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4956048"/>
            <a:ext cx="11185855" cy="822960"/>
          </a:xfrm>
          <a:prstGeom prst="roundRect">
            <a:avLst>
              <a:gd name="adj" fmla="val 11111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5800" y="5184648"/>
            <a:ext cx="365760" cy="365760"/>
          </a:xfrm>
          <a:prstGeom prst="ellipse">
            <a:avLst/>
          </a:prstGeom>
          <a:solidFill>
            <a:srgbClr val="E8463A"/>
          </a:solidFill>
          <a:ln w="12700">
            <a:solidFill>
              <a:srgbClr val="E8463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5184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188720" y="495604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</a:rPr>
              <a:t>小红书走「效果图方案讲解」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3749040" y="495604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263"/>
                </a:solidFill>
              </a:rPr>
              <a:t>改造后先放 → 地图和户型图 → 业主需求清单 → 设计师在户型图上讲改法 → 逐个空间讲。配文写坐标、面积、风格、亮点和搜索词；完工的片尾补 5–10 秒实拍，没完工的写明「设计方案」。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8503920" y="4956048"/>
            <a:ext cx="3047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</a:rPr>
              <a:t>欧碧雅：效果图讲解意向占比 56–71%；置顶评论统一一句「城市 + 面积即可获免费设计和报价」，问价转私信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2920" y="5806440"/>
            <a:ext cx="11185855" cy="566928"/>
          </a:xfrm>
          <a:prstGeom prst="roundRect">
            <a:avLst>
              <a:gd name="adj" fmla="val 16129"/>
            </a:avLst>
          </a:prstGeom>
          <a:solidFill>
            <a:srgbClr val="1B1F2A"/>
          </a:solidFill>
          <a:ln w="12700">
            <a:solidFill>
              <a:srgbClr val="1B1F2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77240" y="580644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33A"/>
                </a:solidFill>
              </a:rPr>
              <a:t>看什么数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每条前 200 条评论里报了自家小区或面积的人数；发出 48 小时后把评论分类，开价、问联系、问地区的挨个回复。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</a:rPr>
              <a:t>文中节奏、时限、数量均为建议值，按门店实际调整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1280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部署环节建议 · 02 召回应用 · 和 AI 聊天召回联动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02920" y="38404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每出一条新案例，交给 AI 聊天召回，1 对 1 发给老客户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2134758" cy="1463040"/>
          </a:xfrm>
          <a:prstGeom prst="roundRect">
            <a:avLst>
              <a:gd name="adj" fmla="val 6250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384048" cy="384048"/>
          </a:xfrm>
          <a:prstGeom prst="ellipse">
            <a:avLst/>
          </a:prstGeom>
          <a:solidFill>
            <a:srgbClr val="E8463A"/>
          </a:solidFill>
          <a:ln w="12700">
            <a:solidFill>
              <a:srgbClr val="E846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74520"/>
            <a:ext cx="19061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F2A"/>
                </a:solidFill>
              </a:rPr>
              <a:t>新案例入库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221992"/>
            <a:ext cx="19061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3"/>
                </a:solidFill>
              </a:rPr>
              <a:t>带编号、小区、户型、预算标签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65694" y="1280160"/>
            <a:ext cx="2134758" cy="1463040"/>
          </a:xfrm>
          <a:prstGeom prst="roundRect">
            <a:avLst>
              <a:gd name="adj" fmla="val 6250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02854" y="1417320"/>
            <a:ext cx="384048" cy="384048"/>
          </a:xfrm>
          <a:prstGeom prst="ellipse">
            <a:avLst/>
          </a:prstGeom>
          <a:solidFill>
            <a:srgbClr val="E8463A"/>
          </a:solidFill>
          <a:ln w="12700">
            <a:solidFill>
              <a:srgbClr val="E846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02854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902854" y="1874520"/>
            <a:ext cx="19061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F2A"/>
                </a:solidFill>
              </a:rPr>
              <a:t>AI 挑人配片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902854" y="2221992"/>
            <a:ext cx="19061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3"/>
                </a:solidFill>
              </a:rPr>
              <a:t>按客户标签找同小区 / 同户型 / 同预算的人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8468" y="1280160"/>
            <a:ext cx="2134758" cy="1463040"/>
          </a:xfrm>
          <a:prstGeom prst="roundRect">
            <a:avLst>
              <a:gd name="adj" fmla="val 6250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65628" y="1417320"/>
            <a:ext cx="384048" cy="384048"/>
          </a:xfrm>
          <a:prstGeom prst="ellipse">
            <a:avLst/>
          </a:prstGeom>
          <a:solidFill>
            <a:srgbClr val="E8463A"/>
          </a:solidFill>
          <a:ln w="12700">
            <a:solidFill>
              <a:srgbClr val="E846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65628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165628" y="1874520"/>
            <a:ext cx="19061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F2A"/>
                </a:solidFill>
              </a:rPr>
              <a:t>AI 起草开头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165628" y="2221992"/>
            <a:ext cx="19061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3"/>
                </a:solidFill>
              </a:rPr>
              <a:t>每人一句，写他自己的情况，不群发同一段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91243" y="1280160"/>
            <a:ext cx="2134758" cy="1463040"/>
          </a:xfrm>
          <a:prstGeom prst="roundRect">
            <a:avLst>
              <a:gd name="adj" fmla="val 6250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28403" y="1417320"/>
            <a:ext cx="384048" cy="384048"/>
          </a:xfrm>
          <a:prstGeom prst="ellipse">
            <a:avLst/>
          </a:prstGeom>
          <a:solidFill>
            <a:srgbClr val="E8463A"/>
          </a:solidFill>
          <a:ln w="12700">
            <a:solidFill>
              <a:srgbClr val="E846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28403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428403" y="1874520"/>
            <a:ext cx="19061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F2A"/>
                </a:solidFill>
              </a:rPr>
              <a:t>5 个号发出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428403" y="2221992"/>
            <a:ext cx="19061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3"/>
                </a:solidFill>
              </a:rPr>
              <a:t>每号每天 200 条，人可抽查后放行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554017" y="1280160"/>
            <a:ext cx="2134758" cy="1463040"/>
          </a:xfrm>
          <a:prstGeom prst="roundRect">
            <a:avLst>
              <a:gd name="adj" fmla="val 6250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91177" y="1417320"/>
            <a:ext cx="384048" cy="384048"/>
          </a:xfrm>
          <a:prstGeom prst="ellipse">
            <a:avLst/>
          </a:prstGeom>
          <a:solidFill>
            <a:srgbClr val="E8463A"/>
          </a:solidFill>
          <a:ln w="12700">
            <a:solidFill>
              <a:srgbClr val="E8463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691177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691177" y="1874520"/>
            <a:ext cx="19061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F2A"/>
                </a:solidFill>
              </a:rPr>
              <a:t>客户回话 AI 接住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9691177" y="2221992"/>
            <a:ext cx="19061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3"/>
                </a:solidFill>
              </a:rPr>
              <a:t>问价、约量房转给销售，按编号记线索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2971800"/>
            <a:ext cx="5486400" cy="2651760"/>
          </a:xfrm>
          <a:prstGeom prst="roundRect">
            <a:avLst>
              <a:gd name="adj" fmla="val 3448"/>
            </a:avLst>
          </a:prstGeom>
          <a:solidFill>
            <a:srgbClr val="FDECEA"/>
          </a:solidFill>
          <a:ln w="12700">
            <a:solidFill>
              <a:srgbClr val="E8463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3108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463A"/>
                </a:solidFill>
              </a:rPr>
              <a:t>每家门店每天的量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77240" y="361188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B1F2A"/>
                </a:solidFill>
              </a:rPr>
              <a:t>5 个号 × 每号 200 条 = </a:t>
            </a:r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E8463A"/>
                </a:solidFill>
              </a:rPr>
              <a:t>1000 条 / 天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A5263"/>
                </a:solidFill>
              </a:rPr>
              <a:t>同一客户隔 2 天以上再发，没回就换一条片再试，最多 7 轮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A5263"/>
                </a:solidFill>
              </a:rPr>
              <a:t>名单：销售在 5 个号里给好友打标签（没签的 / 量过房的 / 老业主），AI 按标签挑人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217920" y="2971800"/>
            <a:ext cx="5470855" cy="2651760"/>
          </a:xfrm>
          <a:prstGeom prst="roundRect">
            <a:avLst>
              <a:gd name="adj" fmla="val 3448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92240" y="3108960"/>
            <a:ext cx="4922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给谁配哪条片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492240" y="3611880"/>
            <a:ext cx="496793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200" b="1" dirty="0">
                <a:solidFill>
                  <a:schemeClr val="tx1"/>
                </a:solidFill>
              </a:rPr>
              <a:t>加过微信没签的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  配同小区 / 附近刚交付的：「您那个小区隔壁刚交付了一户」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200" b="1" dirty="0">
                <a:solidFill>
                  <a:schemeClr val="tx1"/>
                </a:solidFill>
              </a:rPr>
              <a:t>量过房还在比价的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  配同户型、同预算的完工案例，附价格卡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200" b="1" dirty="0">
                <a:solidFill>
                  <a:schemeClr val="tx1"/>
                </a:solidFill>
              </a:rPr>
              <a:t>老业主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  配新案例，顺带问一句身边有没有要装修的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02920" y="5806440"/>
            <a:ext cx="11185855" cy="566928"/>
          </a:xfrm>
          <a:prstGeom prst="roundRect">
            <a:avLst>
              <a:gd name="adj" fmla="val 16129"/>
            </a:avLst>
          </a:prstGeom>
          <a:solidFill>
            <a:srgbClr val="1B1F2A"/>
          </a:solidFill>
          <a:ln w="12700">
            <a:solidFill>
              <a:srgbClr val="1B1F2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7240" y="580644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33A"/>
                </a:solidFill>
              </a:rPr>
              <a:t>看什么数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每号每天发出数、回复数、点开数、约量房 / 到店数，按案例编号记，知道哪条片最能把老客户叫回来。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</a:rPr>
              <a:t>文中节奏、时限、数量均为建议值，按门店实际调整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1280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部署环节建议 · 03 合伙人销售网络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02920" y="38404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施工队、设计公司做完自己客户的装修 / 设计，再向客户推荐全屋定制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85855" cy="402336"/>
          </a:xfrm>
          <a:prstGeom prst="roundRect">
            <a:avLst>
              <a:gd name="adj" fmla="val 22727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115568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63A"/>
                </a:solidFill>
              </a:rPr>
              <a:t>本场景特指：</a:t>
            </a:r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</a:rPr>
              <a:t>装修施工队、设计公司完成自有客户的装修 / 设计服务后，向客户推荐全屋定制业务。客户是他们自己的，我们出案例、做定制。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645920"/>
            <a:ext cx="2134758" cy="1325880"/>
          </a:xfrm>
          <a:prstGeom prst="roundRect">
            <a:avLst>
              <a:gd name="adj" fmla="val 6897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55648"/>
            <a:ext cx="365760" cy="365760"/>
          </a:xfrm>
          <a:prstGeom prst="ellipse">
            <a:avLst/>
          </a:prstGeom>
          <a:solidFill>
            <a:srgbClr val="E8463A"/>
          </a:solidFill>
          <a:ln w="12700">
            <a:solidFill>
              <a:srgbClr val="E846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157984"/>
            <a:ext cx="19061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F2A"/>
                </a:solidFill>
              </a:rPr>
              <a:t>找合伙人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487168"/>
            <a:ext cx="19061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3"/>
                </a:solidFill>
              </a:rPr>
              <a:t>本地装修施工队、设计公司，手上有自己的装修 / 设计客户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65694" y="1645920"/>
            <a:ext cx="2134758" cy="1325880"/>
          </a:xfrm>
          <a:prstGeom prst="roundRect">
            <a:avLst>
              <a:gd name="adj" fmla="val 6897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02854" y="1755648"/>
            <a:ext cx="365760" cy="365760"/>
          </a:xfrm>
          <a:prstGeom prst="ellipse">
            <a:avLst/>
          </a:prstGeom>
          <a:solidFill>
            <a:srgbClr val="E8463A"/>
          </a:solidFill>
          <a:ln w="12700">
            <a:solidFill>
              <a:srgbClr val="E846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02854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902854" y="2157984"/>
            <a:ext cx="19061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F2A"/>
                </a:solidFill>
              </a:rPr>
              <a:t>给专属案例包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2902854" y="2487168"/>
            <a:ext cx="19061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3"/>
                </a:solidFill>
              </a:rPr>
              <a:t>我们做好的全屋定制案例片 + 合伙人编号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8468" y="1645920"/>
            <a:ext cx="2134758" cy="1325880"/>
          </a:xfrm>
          <a:prstGeom prst="roundRect">
            <a:avLst>
              <a:gd name="adj" fmla="val 6897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65628" y="1755648"/>
            <a:ext cx="365760" cy="365760"/>
          </a:xfrm>
          <a:prstGeom prst="ellipse">
            <a:avLst/>
          </a:prstGeom>
          <a:solidFill>
            <a:srgbClr val="E8463A"/>
          </a:solidFill>
          <a:ln w="12700">
            <a:solidFill>
              <a:srgbClr val="E846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65628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165628" y="2157984"/>
            <a:ext cx="19061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F2A"/>
                </a:solidFill>
              </a:rPr>
              <a:t>服务做完时推荐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165628" y="2487168"/>
            <a:ext cx="19061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3"/>
                </a:solidFill>
              </a:rPr>
              <a:t>装修完工或设计交付后，向自己的客户推荐全屋定制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91243" y="1645920"/>
            <a:ext cx="2134758" cy="1325880"/>
          </a:xfrm>
          <a:prstGeom prst="roundRect">
            <a:avLst>
              <a:gd name="adj" fmla="val 6897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28403" y="1755648"/>
            <a:ext cx="365760" cy="365760"/>
          </a:xfrm>
          <a:prstGeom prst="ellipse">
            <a:avLst/>
          </a:prstGeom>
          <a:solidFill>
            <a:srgbClr val="E8463A"/>
          </a:solidFill>
          <a:ln w="12700">
            <a:solidFill>
              <a:srgbClr val="E846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28403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428403" y="2157984"/>
            <a:ext cx="19061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F2A"/>
                </a:solidFill>
              </a:rPr>
              <a:t>客户报编号来问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7428403" y="2487168"/>
            <a:ext cx="19061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3"/>
                </a:solidFill>
              </a:rPr>
              <a:t>记到这位合伙人名下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554017" y="1645920"/>
            <a:ext cx="2134758" cy="1325880"/>
          </a:xfrm>
          <a:prstGeom prst="roundRect">
            <a:avLst>
              <a:gd name="adj" fmla="val 6897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91177" y="1755648"/>
            <a:ext cx="365760" cy="365760"/>
          </a:xfrm>
          <a:prstGeom prst="ellipse">
            <a:avLst/>
          </a:prstGeom>
          <a:solidFill>
            <a:srgbClr val="E8463A"/>
          </a:solidFill>
          <a:ln w="12700">
            <a:solidFill>
              <a:srgbClr val="E8463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691177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691177" y="2157984"/>
            <a:ext cx="19061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F2A"/>
                </a:solidFill>
              </a:rPr>
              <a:t>成交后结算回报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9691177" y="2487168"/>
            <a:ext cx="19061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3"/>
                </a:solidFill>
              </a:rPr>
              <a:t>按单结给合伙人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2920" y="3108960"/>
            <a:ext cx="3594506" cy="2560320"/>
          </a:xfrm>
          <a:prstGeom prst="roundRect">
            <a:avLst>
              <a:gd name="adj" fmla="val 3571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3246120"/>
            <a:ext cx="30458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A"/>
                </a:solidFill>
              </a:rPr>
              <a:t>为什么找他们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777240" y="3749040"/>
            <a:ext cx="309158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chemeClr val="tx1"/>
                </a:solidFill>
              </a:rPr>
              <a:t>客户是现成的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  他们手上本来就有在装修、做设计的客户，每做完一户就多一次推荐机会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chemeClr val="tx1"/>
                </a:solidFill>
              </a:rPr>
              <a:t>时间点刚好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  装修 / 设计做完，下一步就是柜子和全屋定制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chemeClr val="tx1"/>
                </a:solidFill>
              </a:rPr>
              <a:t>客户信他们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  自己的施工队、设计师推荐，比门店自己找更可信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298594" y="3108960"/>
            <a:ext cx="3594506" cy="2560320"/>
          </a:xfrm>
          <a:prstGeom prst="roundRect">
            <a:avLst>
              <a:gd name="adj" fmla="val 3571"/>
            </a:avLst>
          </a:prstGeom>
          <a:solidFill>
            <a:srgbClr val="FDECEA"/>
          </a:solidFill>
          <a:ln w="12700">
            <a:solidFill>
              <a:srgbClr val="E8463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72914" y="3246120"/>
            <a:ext cx="30458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463A"/>
                </a:solidFill>
              </a:rPr>
              <a:t>案例视频怎么用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4572914" y="3749040"/>
            <a:ext cx="309158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chemeClr val="tx1"/>
                </a:solidFill>
              </a:rPr>
              <a:t>合伙人拿去给自己的客户看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  同小区 / 同户型的全屋定制完工片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chemeClr val="tx1"/>
                </a:solidFill>
              </a:rPr>
              <a:t>合作的那一户拍进片子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  他做装修 / 设计、我们做定制，两边都能发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chemeClr val="tx1"/>
                </a:solidFill>
              </a:rPr>
              <a:t>片尾挂合伙人编号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  客户报编号，就知道是谁推荐的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094269" y="3108960"/>
            <a:ext cx="3594506" cy="2560320"/>
          </a:xfrm>
          <a:prstGeom prst="roundRect">
            <a:avLst>
              <a:gd name="adj" fmla="val 3571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368589" y="3246120"/>
            <a:ext cx="30458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A"/>
                </a:solidFill>
              </a:rPr>
              <a:t>要门店定的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8368589" y="3749040"/>
            <a:ext cx="309158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chemeClr val="tx1"/>
                </a:solidFill>
              </a:rPr>
              <a:t>给合伙人什么回报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  ［填写］，如按成交额返点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chemeClr val="tx1"/>
                </a:solidFill>
              </a:rPr>
              <a:t>给客户什么优惠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  ［填写］，报编号即享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chemeClr val="tx1"/>
                </a:solidFill>
              </a:rPr>
              <a:t>怎么记账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  线索表加「合伙人」一栏，记到到店、成交、结算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02920" y="5806440"/>
            <a:ext cx="11185855" cy="566928"/>
          </a:xfrm>
          <a:prstGeom prst="roundRect">
            <a:avLst>
              <a:gd name="adj" fmla="val 16129"/>
            </a:avLst>
          </a:prstGeom>
          <a:solidFill>
            <a:srgbClr val="1B1F2A"/>
          </a:solidFill>
          <a:ln w="12700">
            <a:solidFill>
              <a:srgbClr val="1B1F2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77240" y="580644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33A"/>
                </a:solidFill>
              </a:rPr>
              <a:t>看什么数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签了多少合伙人、每人每月推荐几户、到店、成交，以及每成交一单付出的回报。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</a:rPr>
              <a:t>文中节奏、时限、数量均为建议值，按门店实际调整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1280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部署环节建议 · 04 到店转化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02920" y="38404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客户到店后，用和他家最像的真实案例促成签约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2710586" cy="3108960"/>
          </a:xfrm>
          <a:prstGeom prst="roundRect">
            <a:avLst>
              <a:gd name="adj" fmla="val 3373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rgbClr val="E8463A"/>
          </a:solidFill>
          <a:ln w="12700">
            <a:solidFill>
              <a:srgbClr val="E846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463040"/>
            <a:ext cx="17047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A"/>
                </a:solidFill>
              </a:rPr>
              <a:t>到店前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220766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200" b="1" dirty="0">
                <a:solidFill>
                  <a:schemeClr val="tx1"/>
                </a:solidFill>
              </a:rPr>
              <a:t>按客户情况挑 3 条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  同小区、同户型或同预算的已交付案例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200" b="1" dirty="0">
                <a:solidFill>
                  <a:schemeClr val="tx1"/>
                </a:solidFill>
              </a:rPr>
              <a:t>准备好编号对照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  每个编号对应门店已有的报价单、图纸和照片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14674" y="1280160"/>
            <a:ext cx="2710586" cy="3108960"/>
          </a:xfrm>
          <a:prstGeom prst="roundRect">
            <a:avLst>
              <a:gd name="adj" fmla="val 3373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43274" y="1463040"/>
            <a:ext cx="457200" cy="457200"/>
          </a:xfrm>
          <a:prstGeom prst="ellipse">
            <a:avLst/>
          </a:prstGeom>
          <a:solidFill>
            <a:srgbClr val="E8463A"/>
          </a:solidFill>
          <a:ln w="12700">
            <a:solidFill>
              <a:srgbClr val="E846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43274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237634" y="1463040"/>
            <a:ext cx="17047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A"/>
                </a:solidFill>
              </a:rPr>
              <a:t>到店时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688994" y="2103120"/>
            <a:ext cx="220766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200" b="1" dirty="0">
                <a:solidFill>
                  <a:schemeClr val="tx1"/>
                </a:solidFill>
              </a:rPr>
              <a:t>先放片子再讲方案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  电视或平板播放，客户看到「跟我家差不多」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200" b="1" dirty="0">
                <a:solidFill>
                  <a:schemeClr val="tx1"/>
                </a:solidFill>
              </a:rPr>
              <a:t>报编号调资料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  客户说「我想做 001 那种」，马上调出这一单的报价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200" b="1" dirty="0">
                <a:solidFill>
                  <a:schemeClr val="tx1"/>
                </a:solidFill>
              </a:rPr>
              <a:t>讲清差在哪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  他家和案例不同的地方、价格会怎么变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26429" y="1280160"/>
            <a:ext cx="2710586" cy="3108960"/>
          </a:xfrm>
          <a:prstGeom prst="roundRect">
            <a:avLst>
              <a:gd name="adj" fmla="val 3373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55029" y="1463040"/>
            <a:ext cx="457200" cy="457200"/>
          </a:xfrm>
          <a:prstGeom prst="ellipse">
            <a:avLst/>
          </a:prstGeom>
          <a:solidFill>
            <a:srgbClr val="E8463A"/>
          </a:solidFill>
          <a:ln w="12700">
            <a:solidFill>
              <a:srgbClr val="E846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55029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149389" y="1463040"/>
            <a:ext cx="17047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A"/>
                </a:solidFill>
              </a:rPr>
              <a:t>离店后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600749" y="2103120"/>
            <a:ext cx="220766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200" b="1" dirty="0">
                <a:solidFill>
                  <a:schemeClr val="tx1"/>
                </a:solidFill>
              </a:rPr>
              <a:t>把看过的片发给他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  让他带回家给家人看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200" b="1" dirty="0">
                <a:solidFill>
                  <a:schemeClr val="tx1"/>
                </a:solidFill>
              </a:rPr>
              <a:t>3 天内跟一次（建议）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  补发一条同类新案例，问家里人的意见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74352" y="1261872"/>
            <a:ext cx="1819656" cy="3206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3"/>
            </a:solidFill>
            <a:prstDash val="solid"/>
          </a:ln>
          <a:effectLst>
            <a:outerShdw sx="100000" sy="100000" kx="0" ky="0" algn="bl" rotWithShape="0" blurRad="76200" dist="25400" dir="5400000">
              <a:srgbClr val="1B1F2A">
                <a:alpha val="16000"/>
              </a:srgbClr>
            </a:outerShdw>
          </a:effectLst>
        </p:spPr>
      </p:sp>
      <p:pic>
        <p:nvPicPr>
          <p:cNvPr id="21" name="Image 0" descr="/Users/gloom/lark-agent-handoff/deploy-ppt-20261029/img/c07-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1280160"/>
            <a:ext cx="1783080" cy="316992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9601200" y="45232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3A6"/>
                </a:solidFill>
              </a:rPr>
              <a:t>报价段示例：约 4.4 万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02920" y="4572000"/>
            <a:ext cx="8534095" cy="1051560"/>
          </a:xfrm>
          <a:prstGeom prst="roundRect">
            <a:avLst>
              <a:gd name="adj" fmla="val 8696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7240" y="4572000"/>
            <a:ext cx="79854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</a:rPr>
              <a:t>我们来剪「到店用」的短片：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263"/>
                </a:solidFill>
              </a:rPr>
              <a:t>把现有成片剪成报价段、签约前段各 2 条，专给销售在店里放；不用新素材。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02920" y="5806440"/>
            <a:ext cx="11185855" cy="566928"/>
          </a:xfrm>
          <a:prstGeom prst="roundRect">
            <a:avLst>
              <a:gd name="adj" fmla="val 16129"/>
            </a:avLst>
          </a:prstGeom>
          <a:solidFill>
            <a:srgbClr val="1B1F2A"/>
          </a:solidFill>
          <a:ln w="12700">
            <a:solidFill>
              <a:srgbClr val="1B1F2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77240" y="580644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33A"/>
                </a:solidFill>
              </a:rPr>
              <a:t>看什么数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到店人数、看过案例片的比例、聊到方案的比例、成交率、客单价、成交周期；按编号记，知道哪一单最促签约。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6"/>
                </a:solidFill>
              </a:rPr>
              <a:t>文中节奏、时限、数量均为建议值，按门店实际调整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1280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部署环节建议 · 05 店内案例墙 · 品牌宣传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02920" y="38404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100 个真实案例铺满一面墙，让客户进门就看见「做过这么多家」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943600" cy="4116629"/>
          </a:xfrm>
          <a:prstGeom prst="roundRect">
            <a:avLst>
              <a:gd name="adj" fmla="val 2221"/>
            </a:avLst>
          </a:prstGeom>
          <a:solidFill>
            <a:srgbClr val="1B1F2A"/>
          </a:solidFill>
          <a:ln w="12700">
            <a:solidFill>
              <a:srgbClr val="1B1F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25880"/>
            <a:ext cx="517550" cy="724571"/>
          </a:xfrm>
          <a:prstGeom prst="rect">
            <a:avLst/>
          </a:prstGeom>
          <a:solidFill>
            <a:srgbClr val="E8463A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821851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001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075334" y="1325880"/>
            <a:ext cx="517550" cy="724571"/>
          </a:xfrm>
          <a:prstGeom prst="rect">
            <a:avLst/>
          </a:prstGeom>
          <a:solidFill>
            <a:srgbClr val="2E3442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75334" y="1821851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002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647749" y="1325880"/>
            <a:ext cx="517550" cy="724571"/>
          </a:xfrm>
          <a:prstGeom prst="rect">
            <a:avLst/>
          </a:prstGeom>
          <a:solidFill>
            <a:srgbClr val="2E3442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647749" y="1821851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003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220163" y="1325880"/>
            <a:ext cx="517550" cy="724571"/>
          </a:xfrm>
          <a:prstGeom prst="rect">
            <a:avLst/>
          </a:prstGeom>
          <a:solidFill>
            <a:srgbClr val="3A4152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20163" y="1821851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004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792578" y="1325880"/>
            <a:ext cx="517550" cy="724571"/>
          </a:xfrm>
          <a:prstGeom prst="rect">
            <a:avLst/>
          </a:prstGeom>
          <a:solidFill>
            <a:srgbClr val="2E3442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92578" y="1821851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005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364992" y="1325880"/>
            <a:ext cx="517550" cy="724571"/>
          </a:xfrm>
          <a:prstGeom prst="rect">
            <a:avLst/>
          </a:prstGeom>
          <a:solidFill>
            <a:srgbClr val="2E3442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64992" y="1821851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006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937406" y="1325880"/>
            <a:ext cx="517550" cy="724571"/>
          </a:xfrm>
          <a:prstGeom prst="rect">
            <a:avLst/>
          </a:prstGeom>
          <a:solidFill>
            <a:srgbClr val="3A4152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37406" y="1821851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007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509821" y="1325880"/>
            <a:ext cx="517550" cy="724571"/>
          </a:xfrm>
          <a:prstGeom prst="rect">
            <a:avLst/>
          </a:prstGeom>
          <a:solidFill>
            <a:srgbClr val="E8463A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09821" y="1821851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008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082235" y="1325880"/>
            <a:ext cx="517550" cy="724571"/>
          </a:xfrm>
          <a:prstGeom prst="rect">
            <a:avLst/>
          </a:prstGeom>
          <a:solidFill>
            <a:srgbClr val="2E3442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82235" y="1821851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009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654650" y="1325880"/>
            <a:ext cx="517550" cy="724571"/>
          </a:xfrm>
          <a:prstGeom prst="rect">
            <a:avLst/>
          </a:prstGeom>
          <a:solidFill>
            <a:srgbClr val="3A4152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54650" y="1821851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010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02920" y="2105315"/>
            <a:ext cx="517550" cy="724571"/>
          </a:xfrm>
          <a:prstGeom prst="rect">
            <a:avLst/>
          </a:prstGeom>
          <a:solidFill>
            <a:srgbClr val="2E3442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02920" y="2601285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011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075334" y="2105315"/>
            <a:ext cx="517550" cy="724571"/>
          </a:xfrm>
          <a:prstGeom prst="rect">
            <a:avLst/>
          </a:prstGeom>
          <a:solidFill>
            <a:srgbClr val="2E3442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75334" y="2601285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012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647749" y="2105315"/>
            <a:ext cx="517550" cy="724571"/>
          </a:xfrm>
          <a:prstGeom prst="rect">
            <a:avLst/>
          </a:prstGeom>
          <a:solidFill>
            <a:srgbClr val="3A4152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647749" y="2601285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013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2220163" y="2105315"/>
            <a:ext cx="517550" cy="724571"/>
          </a:xfrm>
          <a:prstGeom prst="rect">
            <a:avLst/>
          </a:prstGeom>
          <a:solidFill>
            <a:srgbClr val="2E3442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220163" y="2601285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014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792578" y="2105315"/>
            <a:ext cx="517550" cy="724571"/>
          </a:xfrm>
          <a:prstGeom prst="rect">
            <a:avLst/>
          </a:prstGeom>
          <a:solidFill>
            <a:srgbClr val="E8463A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792578" y="2601285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015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364992" y="2105315"/>
            <a:ext cx="517550" cy="724571"/>
          </a:xfrm>
          <a:prstGeom prst="rect">
            <a:avLst/>
          </a:prstGeom>
          <a:solidFill>
            <a:srgbClr val="3A4152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364992" y="2601285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016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937406" y="2105315"/>
            <a:ext cx="517550" cy="724571"/>
          </a:xfrm>
          <a:prstGeom prst="rect">
            <a:avLst/>
          </a:prstGeom>
          <a:solidFill>
            <a:srgbClr val="2E3442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937406" y="2601285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017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509821" y="2105315"/>
            <a:ext cx="517550" cy="724571"/>
          </a:xfrm>
          <a:prstGeom prst="rect">
            <a:avLst/>
          </a:prstGeom>
          <a:solidFill>
            <a:srgbClr val="2E3442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509821" y="2601285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018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5082235" y="2105315"/>
            <a:ext cx="517550" cy="724571"/>
          </a:xfrm>
          <a:prstGeom prst="rect">
            <a:avLst/>
          </a:prstGeom>
          <a:solidFill>
            <a:srgbClr val="3A4152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082235" y="2601285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019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5654650" y="2105315"/>
            <a:ext cx="517550" cy="724571"/>
          </a:xfrm>
          <a:prstGeom prst="rect">
            <a:avLst/>
          </a:prstGeom>
          <a:solidFill>
            <a:srgbClr val="2E3442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654650" y="2601285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020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502920" y="2884749"/>
            <a:ext cx="517550" cy="724571"/>
          </a:xfrm>
          <a:prstGeom prst="rect">
            <a:avLst/>
          </a:prstGeom>
          <a:solidFill>
            <a:srgbClr val="2E3442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02920" y="3380720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021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1075334" y="2884749"/>
            <a:ext cx="517550" cy="724571"/>
          </a:xfrm>
          <a:prstGeom prst="rect">
            <a:avLst/>
          </a:prstGeom>
          <a:solidFill>
            <a:srgbClr val="E8463A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075334" y="3380720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022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1647749" y="2884749"/>
            <a:ext cx="517550" cy="724571"/>
          </a:xfrm>
          <a:prstGeom prst="rect">
            <a:avLst/>
          </a:prstGeom>
          <a:solidFill>
            <a:srgbClr val="2E3442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647749" y="3380720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023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2220163" y="2884749"/>
            <a:ext cx="517550" cy="724571"/>
          </a:xfrm>
          <a:prstGeom prst="rect">
            <a:avLst/>
          </a:prstGeom>
          <a:solidFill>
            <a:srgbClr val="2E3442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2220163" y="3380720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024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2792578" y="2884749"/>
            <a:ext cx="517550" cy="724571"/>
          </a:xfrm>
          <a:prstGeom prst="rect">
            <a:avLst/>
          </a:prstGeom>
          <a:solidFill>
            <a:srgbClr val="3A4152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2792578" y="3380720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025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3364992" y="2884749"/>
            <a:ext cx="517550" cy="724571"/>
          </a:xfrm>
          <a:prstGeom prst="rect">
            <a:avLst/>
          </a:prstGeom>
          <a:solidFill>
            <a:srgbClr val="2E3442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364992" y="3380720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026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3937406" y="2884749"/>
            <a:ext cx="517550" cy="724571"/>
          </a:xfrm>
          <a:prstGeom prst="rect">
            <a:avLst/>
          </a:prstGeom>
          <a:solidFill>
            <a:srgbClr val="2E3442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3937406" y="3380720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027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4509821" y="2884749"/>
            <a:ext cx="517550" cy="724571"/>
          </a:xfrm>
          <a:prstGeom prst="rect">
            <a:avLst/>
          </a:prstGeom>
          <a:solidFill>
            <a:srgbClr val="3A4152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4509821" y="3380720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028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5082235" y="2884749"/>
            <a:ext cx="517550" cy="724571"/>
          </a:xfrm>
          <a:prstGeom prst="rect">
            <a:avLst/>
          </a:prstGeom>
          <a:solidFill>
            <a:srgbClr val="E8463A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5082235" y="3380720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029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5654650" y="2884749"/>
            <a:ext cx="517550" cy="724571"/>
          </a:xfrm>
          <a:prstGeom prst="rect">
            <a:avLst/>
          </a:prstGeom>
          <a:solidFill>
            <a:srgbClr val="2E3442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5654650" y="3380720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030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502920" y="3664184"/>
            <a:ext cx="517550" cy="724571"/>
          </a:xfrm>
          <a:prstGeom prst="rect">
            <a:avLst/>
          </a:prstGeom>
          <a:solidFill>
            <a:srgbClr val="3A4152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502920" y="4160154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031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1075334" y="3664184"/>
            <a:ext cx="517550" cy="724571"/>
          </a:xfrm>
          <a:prstGeom prst="rect">
            <a:avLst/>
          </a:prstGeom>
          <a:solidFill>
            <a:srgbClr val="2E3442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1075334" y="4160154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032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1647749" y="3664184"/>
            <a:ext cx="517550" cy="724571"/>
          </a:xfrm>
          <a:prstGeom prst="rect">
            <a:avLst/>
          </a:prstGeom>
          <a:solidFill>
            <a:srgbClr val="2E3442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1647749" y="4160154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033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2220163" y="3664184"/>
            <a:ext cx="517550" cy="724571"/>
          </a:xfrm>
          <a:prstGeom prst="rect">
            <a:avLst/>
          </a:prstGeom>
          <a:solidFill>
            <a:srgbClr val="3A4152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2220163" y="4160154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034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2792578" y="3664184"/>
            <a:ext cx="517550" cy="724571"/>
          </a:xfrm>
          <a:prstGeom prst="rect">
            <a:avLst/>
          </a:prstGeom>
          <a:solidFill>
            <a:srgbClr val="2E3442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2792578" y="4160154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035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3364992" y="3664184"/>
            <a:ext cx="517550" cy="724571"/>
          </a:xfrm>
          <a:prstGeom prst="rect">
            <a:avLst/>
          </a:prstGeom>
          <a:solidFill>
            <a:srgbClr val="E8463A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3364992" y="4160154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036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3937406" y="3664184"/>
            <a:ext cx="517550" cy="724571"/>
          </a:xfrm>
          <a:prstGeom prst="rect">
            <a:avLst/>
          </a:prstGeom>
          <a:solidFill>
            <a:srgbClr val="3A4152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3937406" y="4160154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037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4509821" y="3664184"/>
            <a:ext cx="517550" cy="724571"/>
          </a:xfrm>
          <a:prstGeom prst="rect">
            <a:avLst/>
          </a:prstGeom>
          <a:solidFill>
            <a:srgbClr val="2E3442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4509821" y="4160154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038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5082235" y="3664184"/>
            <a:ext cx="517550" cy="724571"/>
          </a:xfrm>
          <a:prstGeom prst="rect">
            <a:avLst/>
          </a:prstGeom>
          <a:solidFill>
            <a:srgbClr val="2E3442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5082235" y="4160154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039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5654650" y="3664184"/>
            <a:ext cx="517550" cy="724571"/>
          </a:xfrm>
          <a:prstGeom prst="rect">
            <a:avLst/>
          </a:prstGeom>
          <a:solidFill>
            <a:srgbClr val="3A4152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5654650" y="4160154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040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502920" y="4443618"/>
            <a:ext cx="517550" cy="724571"/>
          </a:xfrm>
          <a:prstGeom prst="rect">
            <a:avLst/>
          </a:prstGeom>
          <a:solidFill>
            <a:srgbClr val="2E3442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502920" y="4939589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041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1075334" y="4443618"/>
            <a:ext cx="517550" cy="724571"/>
          </a:xfrm>
          <a:prstGeom prst="rect">
            <a:avLst/>
          </a:prstGeom>
          <a:solidFill>
            <a:srgbClr val="2E3442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1075334" y="4939589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042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1647749" y="4443618"/>
            <a:ext cx="517550" cy="724571"/>
          </a:xfrm>
          <a:prstGeom prst="rect">
            <a:avLst/>
          </a:prstGeom>
          <a:solidFill>
            <a:srgbClr val="E8463A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1647749" y="4939589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043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2220163" y="4443618"/>
            <a:ext cx="517550" cy="724571"/>
          </a:xfrm>
          <a:prstGeom prst="rect">
            <a:avLst/>
          </a:prstGeom>
          <a:solidFill>
            <a:srgbClr val="2E3442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2220163" y="4939589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044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2792578" y="4443618"/>
            <a:ext cx="517550" cy="724571"/>
          </a:xfrm>
          <a:prstGeom prst="rect">
            <a:avLst/>
          </a:prstGeom>
          <a:solidFill>
            <a:srgbClr val="2E3442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2792578" y="4939589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045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3364992" y="4443618"/>
            <a:ext cx="517550" cy="724571"/>
          </a:xfrm>
          <a:prstGeom prst="rect">
            <a:avLst/>
          </a:prstGeom>
          <a:solidFill>
            <a:srgbClr val="3A4152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3364992" y="4939589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046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3937406" y="4443618"/>
            <a:ext cx="517550" cy="724571"/>
          </a:xfrm>
          <a:prstGeom prst="rect">
            <a:avLst/>
          </a:prstGeom>
          <a:solidFill>
            <a:srgbClr val="2E3442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3937406" y="4939589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047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4509821" y="4443618"/>
            <a:ext cx="517550" cy="724571"/>
          </a:xfrm>
          <a:prstGeom prst="rect">
            <a:avLst/>
          </a:prstGeom>
          <a:solidFill>
            <a:srgbClr val="2E3442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4509821" y="4939589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048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5082235" y="4443618"/>
            <a:ext cx="517550" cy="724571"/>
          </a:xfrm>
          <a:prstGeom prst="rect">
            <a:avLst/>
          </a:prstGeom>
          <a:solidFill>
            <a:srgbClr val="3A4152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5082235" y="4939589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049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5654650" y="4443618"/>
            <a:ext cx="517550" cy="724571"/>
          </a:xfrm>
          <a:prstGeom prst="rect">
            <a:avLst/>
          </a:prstGeom>
          <a:solidFill>
            <a:srgbClr val="E8463A"/>
          </a:solidFill>
          <a:ln w="6350">
            <a:solidFill>
              <a:srgbClr val="4A5263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5654650" y="4939589"/>
            <a:ext cx="5175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CE3"/>
                </a:solidFill>
              </a:rPr>
              <a:t>050</a:t>
            </a:r>
            <a:endParaRPr lang="en-US" sz="700" dirty="0"/>
          </a:p>
        </p:txBody>
      </p:sp>
      <p:sp>
        <p:nvSpPr>
          <p:cNvPr id="106" name="Text 104"/>
          <p:cNvSpPr txBox="1"/>
          <p:nvPr/>
        </p:nvSpPr>
        <p:spPr>
          <a:xfrm>
            <a:off x="365760" y="5396789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93A6"/>
                </a:solidFill>
              </a:rPr>
              <a:t>示意：每面墙按 50 张一组排，两组 = 100 张；红色为当月新交付</a:t>
            </a:r>
            <a:endParaRPr lang="en-US" sz="1050" dirty="0"/>
          </a:p>
        </p:txBody>
      </p:sp>
      <p:sp>
        <p:nvSpPr>
          <p:cNvPr id="107" name="Shape 105"/>
          <p:cNvSpPr/>
          <p:nvPr/>
        </p:nvSpPr>
        <p:spPr>
          <a:xfrm>
            <a:off x="6537960" y="1188720"/>
            <a:ext cx="5150815" cy="4434840"/>
          </a:xfrm>
          <a:prstGeom prst="roundRect">
            <a:avLst>
              <a:gd name="adj" fmla="val 2062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6812280" y="1325880"/>
            <a:ext cx="4602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每张海报展示什么</a:t>
            </a:r>
            <a:endParaRPr lang="en-US" sz="1600" dirty="0"/>
          </a:p>
        </p:txBody>
      </p:sp>
      <p:sp>
        <p:nvSpPr>
          <p:cNvPr id="109" name="Text 107"/>
          <p:cNvSpPr txBox="1"/>
          <p:nvPr/>
        </p:nvSpPr>
        <p:spPr>
          <a:xfrm>
            <a:off x="6812280" y="1783080"/>
            <a:ext cx="464789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150" b="1" dirty="0">
                <a:solidFill>
                  <a:schemeClr val="tx1"/>
                </a:solidFill>
              </a:rPr>
              <a:t>案例编号 + 小区名称 + 户型面积 + 参考价格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chemeClr val="tx2"/>
                </a:solidFill>
              </a:rPr>
              <a:t>  与对应视频保持信息一致，方便客户按小区、户型快速查找参考案例。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150" b="1" dirty="0">
                <a:solidFill>
                  <a:schemeClr val="tx1"/>
                </a:solidFill>
              </a:rPr>
              <a:t>实景完工照片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chemeClr val="tx2"/>
                </a:solidFill>
              </a:rPr>
              <a:t>  优先使用真实完工实拍，直观展示施工效果，不依赖效果图。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150" b="1" dirty="0">
                <a:solidFill>
                  <a:schemeClr val="tx1"/>
                </a:solidFill>
              </a:rPr>
              <a:t>视频二维码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chemeClr val="tx2"/>
                </a:solidFill>
              </a:rPr>
              <a:t>  扫码查看对应案例视频，了解完工细节与实际效果。</a:t>
            </a:r>
            <a:endParaRPr lang="en-US" sz="1150" dirty="0"/>
          </a:p>
        </p:txBody>
      </p:sp>
      <p:sp>
        <p:nvSpPr>
          <p:cNvPr id="110" name="Text 108"/>
          <p:cNvSpPr txBox="1"/>
          <p:nvPr/>
        </p:nvSpPr>
        <p:spPr>
          <a:xfrm>
            <a:off x="6812280" y="3520440"/>
            <a:ext cx="4602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463A"/>
                </a:solidFill>
              </a:rPr>
              <a:t>怎么用</a:t>
            </a:r>
            <a:endParaRPr lang="en-US" sz="1600" dirty="0"/>
          </a:p>
        </p:txBody>
      </p:sp>
      <p:sp>
        <p:nvSpPr>
          <p:cNvPr id="111" name="Text 109"/>
          <p:cNvSpPr txBox="1"/>
          <p:nvPr/>
        </p:nvSpPr>
        <p:spPr>
          <a:xfrm>
            <a:off x="6812280" y="3977640"/>
            <a:ext cx="464789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150" b="1" dirty="0">
                <a:solidFill>
                  <a:schemeClr val="tx1"/>
                </a:solidFill>
              </a:rPr>
              <a:t>品牌展示｜让案例成为门店的实力证明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chemeClr val="tx2"/>
                </a:solidFill>
              </a:rPr>
              <a:t>  100 个案例集中展示，帮助客户快速了解门店的服务经验与案例积累。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150" b="1" dirty="0">
                <a:solidFill>
                  <a:schemeClr val="tx1"/>
                </a:solidFill>
              </a:rPr>
              <a:t>销售引导｜从客户熟悉的小区切入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chemeClr val="tx2"/>
                </a:solidFill>
              </a:rPr>
              <a:t>  先展示同小区或相似户型的案例，再扫码观看对应视频，让沟通更有针对性。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150" b="1" dirty="0">
                <a:solidFill>
                  <a:schemeClr val="tx1"/>
                </a:solidFill>
              </a:rPr>
              <a:t>持续更新｜让案例墙保持新鲜感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chemeClr val="tx2"/>
                </a:solidFill>
              </a:rPr>
              <a:t>  新交付案例及时上墙，旧案例归档留存；按统一模板批量制作，降低更新成本。</a:t>
            </a:r>
            <a:endParaRPr lang="en-US" sz="1150" dirty="0"/>
          </a:p>
        </p:txBody>
      </p:sp>
      <p:sp>
        <p:nvSpPr>
          <p:cNvPr id="112" name="Shape 110"/>
          <p:cNvSpPr/>
          <p:nvPr/>
        </p:nvSpPr>
        <p:spPr>
          <a:xfrm>
            <a:off x="502920" y="5806440"/>
            <a:ext cx="11185855" cy="566928"/>
          </a:xfrm>
          <a:prstGeom prst="roundRect">
            <a:avLst>
              <a:gd name="adj" fmla="val 16129"/>
            </a:avLst>
          </a:prstGeom>
          <a:solidFill>
            <a:srgbClr val="1B1F2A"/>
          </a:solidFill>
          <a:ln w="12700">
            <a:solidFill>
              <a:srgbClr val="1B1F2A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777240" y="580644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33A"/>
                </a:solidFill>
              </a:rPr>
              <a:t>看什么数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客户在墙前报编号问的次数、扫码看视频的次数；门店定：墙面尺寸、海报尺寸、印刷费用［填写］。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kke Promo">
  <a:themeElements>
    <a:clrScheme name="Akke Promo">
      <a:dk1>
        <a:srgbClr val="1B1F2A"/>
      </a:dk1>
      <a:lt1>
        <a:srgbClr val="FFFFFF"/>
      </a:lt1>
      <a:dk2>
        <a:srgbClr val="4A5263"/>
      </a:dk2>
      <a:lt2>
        <a:srgbClr val="F3F4F7"/>
      </a:lt2>
      <a:accent1>
        <a:srgbClr val="E8463A"/>
      </a:accent1>
      <a:accent2>
        <a:srgbClr val="1B1F2A"/>
      </a:accent2>
      <a:accent3>
        <a:srgbClr val="F2A33A"/>
      </a:accent3>
      <a:accent4>
        <a:srgbClr val="2E9E6B"/>
      </a:accent4>
      <a:accent5>
        <a:srgbClr val="8A93A6"/>
      </a:accent5>
      <a:accent6>
        <a:srgbClr val="FDECEA"/>
      </a:accent6>
      <a:hlink>
        <a:srgbClr val="E8463A"/>
      </a:hlink>
      <a:folHlink>
        <a:srgbClr val="8A93A6"/>
      </a:folHlink>
    </a:clrScheme>
    <a:fontScheme name="Akke Promo">
      <a:majorFont>
        <a:latin typeface="Microsoft YaHei"/>
        <a:ea typeface="Microsoft YaHei"/>
        <a:cs typeface=""/>
        <a:font script="Jpan" typeface="游ゴシック Light"/>
        <a:font script="Hang" typeface="맑은 고딕"/>
        <a:font script="Hans" typeface="Microsoft YaHe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Microsoft YaHei"/>
        <a:cs typeface=""/>
        <a:font script="Jpan" typeface="游ゴシック"/>
        <a:font script="Hang" typeface="맑은 고딕"/>
        <a:font script="Hans" typeface="Microsoft YaHe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视频案例获客专题 · 部署环节的建议</dc:title>
  <dc:subject>PptxGenJS Presentation</dc:subject>
  <dc:creator>PptxGenJS</dc:creator>
  <cp:lastModifiedBy>PptxGenJS</cp:lastModifiedBy>
  <cp:revision>1</cp:revision>
  <dcterms:created xsi:type="dcterms:W3CDTF">2026-10-29T07:28:45Z</dcterms:created>
  <dcterms:modified xsi:type="dcterms:W3CDTF">2026-10-29T07:28:45Z</dcterms:modified>
</cp:coreProperties>
</file>